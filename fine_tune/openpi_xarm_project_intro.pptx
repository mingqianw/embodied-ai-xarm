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20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50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3600" b="1">
                <a:solidFill>
                  <a:srgbClr val="243447"/>
                </a:solidFill>
              </a:rPr>
              <a:t>Embodied AI xArm Project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20000" y="1120000"/>
            <a:ext cx="102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2200" b="0">
                <a:solidFill>
                  <a:srgbClr val="5E6A75"/>
                </a:solidFill>
              </a:rPr>
              <a:t>Raw xArm demonstrations to OpenPI pi0.5 fine-tuning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760000" y="1800000"/>
            <a:ext cx="70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Capture raw xArm episodes with robot logs, gripper events, and RealSense RGB frames.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Convert task-organized raw folders into LeRobot/OpenPI-compatible training data.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Fine-tune pi0.5 policies from 7D joint+gripper trajectories and language prompts.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20000" y="6350000"/>
            <a:ext cx="76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Intro based on the raw dataset README for future collaborators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100000" y="63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20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50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3600" b="1">
                <a:solidFill>
                  <a:srgbClr val="243447"/>
                </a:solidFill>
              </a:rPr>
              <a:t>Project Goal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350000"/>
            <a:ext cx="70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Train a vision-language-action policy from real xArm demonstrations captured in raw episodes.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Preserve raw collection details so conversion, debugging, and future camera configs stay traceable.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Keep the data pipeline reproducible enough for new collaborators to inspect and extend safely.</a:t>
            </a:r>
          </a:p>
        </p:txBody>
      </p:sp>
      <p:sp>
        <p:nvSpPr>
          <p:cNvPr id="5" name="Callout"/>
          <p:cNvSpPr txBox="1"/>
          <p:nvPr/>
        </p:nvSpPr>
        <p:spPr>
          <a:xfrm>
            <a:off x="7900000" y="1450000"/>
            <a:ext cx="3500000" cy="1500000"/>
          </a:xfrm>
          <a:prstGeom prst="roundRect">
            <a:avLst/>
          </a:prstGeom>
          <a:solidFill>
            <a:srgbClr val="C96F2D"/>
          </a:solidFill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950" b="1">
                <a:solidFill>
                  <a:srgbClr val="FFFFFF"/>
                </a:solidFill>
              </a:rPr>
              <a:t>Target platform: xArm 6 + gripper, ~10 Hz saved frames, 640 x 480 RealSense RGB cameras.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20000" y="6350000"/>
            <a:ext cx="76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Embodied AI xArm | OpenPI pi0.5 fine-tuning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100000" y="63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20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50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3600" b="1">
                <a:solidFill>
                  <a:srgbClr val="243447"/>
                </a:solidFill>
              </a:rPr>
              <a:t>Current Task Set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350000"/>
            <a:ext cx="70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Each task lives under raw/&lt;task_name&gt;/ and becomes prompt/task metadata.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Example README task names: pick_up_blue_block and place_red_on_blue.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Current pickup tasks include blue block, red block, and red pepper demonstrations.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Earlier/removed tasks included largest block, smallest block, and placing red pepper in the ring.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Tasks are stored in LeRobot metadata via task_index and prompt/task text.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20000" y="6350000"/>
            <a:ext cx="76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Embodied AI xArm | OpenPI pi0.5 fine-tuning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100000" y="63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20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50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3600" b="1">
                <a:solidFill>
                  <a:srgbClr val="243447"/>
                </a:solidFill>
              </a:rPr>
              <a:t>Data Collection Format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350000"/>
            <a:ext cx="70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Each raw episode contains meta.json, robot_log.csv, gripper_events.csv, and RealSense image folders.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meta.json records task, episode index, polling/saving rates, and camera metadata.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robot_log.csv stores timestamps, j1-j6 radians, TCP pose, gripper_mm, and image file paths.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Note: README says tcp_*_m values should be treated as millimeters, not meters.</a:t>
            </a:r>
          </a:p>
        </p:txBody>
      </p:sp>
      <p:sp>
        <p:nvSpPr>
          <p:cNvPr id="5" name="Code"/>
          <p:cNvSpPr txBox="1"/>
          <p:nvPr/>
        </p:nvSpPr>
        <p:spPr>
          <a:xfrm>
            <a:off x="7900000" y="1450000"/>
            <a:ext cx="3600000" cy="1700000"/>
          </a:xfrm>
          <a:prstGeom prst="roundRect">
            <a:avLst/>
          </a:prstGeom>
          <a:solidFill>
            <a:srgbClr val="EAF0F5"/>
          </a:solidFill>
          <a:ln w="12700">
            <a:solidFill>
              <a:srgbClr val="D6DEE6"/>
            </a:solidFill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650" b="0">
                <a:solidFill>
                  <a:srgbClr val="1B2630"/>
                </a:solidFill>
              </a:rPr>
              <a:t>realsense_0 -&gt; image; realsense_1 -&gt; wrist_image</a:t>
            </a:r>
          </a:p>
          <a:p>
            <a:pPr marL="0" indent="0" lvl="0">
              <a:buNone/>
            </a:pPr>
            <a:r>
              <a:rPr lang="en-US" sz="1650" b="0">
                <a:solidFill>
                  <a:srgbClr val="1B2630"/>
                </a:solidFill>
              </a:rPr>
              <a:t>realsense_2 is preserved for future multi-view configs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20000" y="6350000"/>
            <a:ext cx="76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Embodied AI xArm | OpenPI pi0.5 fine-tuning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100000" y="63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20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50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3600" b="1">
                <a:solidFill>
                  <a:srgbClr val="243447"/>
                </a:solidFill>
              </a:rPr>
              <a:t>Conversion Pipeline</a:t>
            </a:r>
          </a:p>
        </p:txBody>
      </p:sp>
      <p:sp>
        <p:nvSpPr>
          <p:cNvPr id="4" name="Pipeline 1"/>
          <p:cNvSpPr txBox="1"/>
          <p:nvPr/>
        </p:nvSpPr>
        <p:spPr>
          <a:xfrm>
            <a:off x="720000" y="1450000"/>
            <a:ext cx="2100000" cy="7600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900" b="1">
                <a:solidFill>
                  <a:srgbClr val="FFFFFF"/>
                </a:solidFill>
              </a:rPr>
              <a:t>Raw task folders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2850000" y="1830000"/>
            <a:ext cx="260000" cy="0"/>
          </a:xfrm>
          <a:prstGeom prst="line">
            <a:avLst/>
          </a:prstGeom>
          <a:ln w="25400">
            <a:solidFill>
              <a:srgbClr val="5E6A75"/>
            </a:solidFill>
            <a:tailEnd type="triangle"/>
          </a:ln>
        </p:spPr>
      </p:cxnSp>
      <p:sp>
        <p:nvSpPr>
          <p:cNvPr id="6" name="Pipeline 2"/>
          <p:cNvSpPr txBox="1"/>
          <p:nvPr/>
        </p:nvSpPr>
        <p:spPr>
          <a:xfrm>
            <a:off x="3140000" y="1450000"/>
            <a:ext cx="2100000" cy="76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900" b="1">
                <a:solidFill>
                  <a:srgbClr val="FFFFFF"/>
                </a:solidFill>
              </a:rPr>
              <a:t>LeRobot dataset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5270000" y="1830000"/>
            <a:ext cx="260000" cy="0"/>
          </a:xfrm>
          <a:prstGeom prst="line">
            <a:avLst/>
          </a:prstGeom>
          <a:ln w="25400">
            <a:solidFill>
              <a:srgbClr val="5E6A75"/>
            </a:solidFill>
            <a:tailEnd type="triangle"/>
          </a:ln>
        </p:spPr>
      </p:cxnSp>
      <p:sp>
        <p:nvSpPr>
          <p:cNvPr id="8" name="Pipeline 3"/>
          <p:cNvSpPr txBox="1"/>
          <p:nvPr/>
        </p:nvSpPr>
        <p:spPr>
          <a:xfrm>
            <a:off x="5560000" y="1450000"/>
            <a:ext cx="2100000" cy="760000"/>
          </a:xfrm>
          <a:prstGeom prst="roundRect">
            <a:avLst/>
          </a:prstGeom>
          <a:solidFill>
            <a:srgbClr val="C96F2D"/>
          </a:solidFill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900" b="1">
                <a:solidFill>
                  <a:srgbClr val="FFFFFF"/>
                </a:solidFill>
              </a:rPr>
              <a:t>Parquet episodes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7690000" y="1830000"/>
            <a:ext cx="260000" cy="0"/>
          </a:xfrm>
          <a:prstGeom prst="line">
            <a:avLst/>
          </a:prstGeom>
          <a:ln w="25400">
            <a:solidFill>
              <a:srgbClr val="5E6A75"/>
            </a:solidFill>
            <a:tailEnd type="triangle"/>
          </a:ln>
        </p:spPr>
      </p:cxnSp>
      <p:sp>
        <p:nvSpPr>
          <p:cNvPr id="10" name="Pipeline 4"/>
          <p:cNvSpPr txBox="1"/>
          <p:nvPr/>
        </p:nvSpPr>
        <p:spPr>
          <a:xfrm>
            <a:off x="7980000" y="1450000"/>
            <a:ext cx="2100000" cy="760000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900" b="1">
                <a:solidFill>
                  <a:srgbClr val="FFFFFF"/>
                </a:solidFill>
              </a:rPr>
              <a:t>OpenPI dataloader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760000" y="2600000"/>
            <a:ext cx="70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Converter reads robot_log.csv image paths and emits 7D state/actions vectors.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7D order: j1_rad ... j6_rad, gripper_mm; final raw row is dropped for next-state actions.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Parquets are stored under data/chunk-000/episode_XXXXXX.parquet.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Metadata is stored under meta/, including info.json and task mappings.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620000" y="6350000"/>
            <a:ext cx="76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Embodied AI xArm | OpenPI pi0.5 fine-tuning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11100000" y="63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20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50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3600" b="1">
                <a:solidFill>
                  <a:srgbClr val="243447"/>
                </a:solidFill>
              </a:rPr>
              <a:t>OpenPI Fine-Tuning Setup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350000"/>
            <a:ext cx="70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Config: pi05_xarm_full_finetune / pi05_xarm.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Model: OpenPI pi0.5 with action_dim=32 and action_horizon=10.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Observed robot action payload is 7D, padded into the 32D OpenPI action space.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Current config converts the first 6 joint actions to deltas and leaves gripper absolute.</a:t>
            </a:r>
          </a:p>
        </p:txBody>
      </p:sp>
      <p:sp>
        <p:nvSpPr>
          <p:cNvPr id="5" name="Code"/>
          <p:cNvSpPr txBox="1"/>
          <p:nvPr/>
        </p:nvSpPr>
        <p:spPr>
          <a:xfrm>
            <a:off x="7900000" y="1450000"/>
            <a:ext cx="3600000" cy="1700000"/>
          </a:xfrm>
          <a:prstGeom prst="roundRect">
            <a:avLst/>
          </a:prstGeom>
          <a:solidFill>
            <a:srgbClr val="EAF0F5"/>
          </a:solidFill>
          <a:ln w="12700">
            <a:solidFill>
              <a:srgbClr val="D6DEE6"/>
            </a:solidFill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650" b="0">
                <a:solidFill>
                  <a:srgbClr val="1B2630"/>
                </a:solidFill>
              </a:rPr>
              <a:t>DeltaActions(mask first 6 joints)</a:t>
            </a:r>
          </a:p>
          <a:p>
            <a:pPr marL="0" indent="0" lvl="0">
              <a:buNone/>
            </a:pPr>
            <a:r>
              <a:rPr lang="en-US" sz="1650" b="0">
                <a:solidFill>
                  <a:srgbClr val="1B2630"/>
                </a:solidFill>
              </a:rPr>
              <a:t>Absolute gripper dimension</a:t>
            </a:r>
          </a:p>
          <a:p>
            <a:pPr marL="0" indent="0" lvl="0">
              <a:buNone/>
            </a:pPr>
            <a:r>
              <a:rPr lang="en-US" sz="1650" b="0">
                <a:solidFill>
                  <a:srgbClr val="1B2630"/>
                </a:solidFill>
              </a:rPr>
              <a:t>Prompt comes from LeRobot task text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20000" y="6350000"/>
            <a:ext cx="76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Embodied AI xArm | OpenPI pi0.5 fine-tuning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100000" y="63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20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50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3600" b="1">
                <a:solidFill>
                  <a:srgbClr val="243447"/>
                </a:solidFill>
              </a:rPr>
              <a:t>Debugging Loss Spikes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350000"/>
            <a:ext cx="70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Training loss occasionally jumped to very large values.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A debug version of train.py prints only samples with sample_loss &gt;= 10.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The tracer records batch index, horizon, action dimension, normalized target, and nearest parquet rows.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Trace logs are written as JSONL for later inspection.</a:t>
            </a:r>
          </a:p>
        </p:txBody>
      </p:sp>
      <p:sp>
        <p:nvSpPr>
          <p:cNvPr id="5" name="Code"/>
          <p:cNvSpPr txBox="1"/>
          <p:nvPr/>
        </p:nvSpPr>
        <p:spPr>
          <a:xfrm>
            <a:off x="7900000" y="1450000"/>
            <a:ext cx="3600000" cy="1700000"/>
          </a:xfrm>
          <a:prstGeom prst="roundRect">
            <a:avLst/>
          </a:prstGeom>
          <a:solidFill>
            <a:srgbClr val="EAF0F5"/>
          </a:solidFill>
          <a:ln w="12700">
            <a:solidFill>
              <a:srgbClr val="D6DEE6"/>
            </a:solidFill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650" b="0">
                <a:solidFill>
                  <a:srgbClr val="1B2630"/>
                </a:solidFill>
              </a:rPr>
              <a:t>OPENPI_DEBUG_TRACE_LOG=debug_high_loss_traces.jsonl</a:t>
            </a:r>
          </a:p>
          <a:p>
            <a:pPr marL="0" indent="0" lvl="0">
              <a:buNone/>
            </a:pPr>
            <a:r>
              <a:rPr lang="en-US" sz="1650" b="0">
                <a:solidFill>
                  <a:srgbClr val="1B2630"/>
                </a:solidFill>
              </a:rPr>
              <a:t>OPENPI_DEBUG_TRACE_SAMPLE_LOSS_THRESHOLD=10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20000" y="6350000"/>
            <a:ext cx="76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Embodied AI xArm | OpenPI pi0.5 fine-tuning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100000" y="63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20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50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3600" b="1">
                <a:solidFill>
                  <a:srgbClr val="243447"/>
                </a:solidFill>
              </a:rPr>
              <a:t>Root Cause Found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350000"/>
            <a:ext cx="70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A high-loss sample was traced to horizon_9 dim_3.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The suspicious source was episode_000020.parquet around frames 41-46.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Frame 44 showed a raw dim3 jump from 0.095452 to 0.127821.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That raw delta is about 0.032369, far larger than typical dim3 deltas.</a:t>
            </a:r>
          </a:p>
        </p:txBody>
      </p:sp>
      <p:sp>
        <p:nvSpPr>
          <p:cNvPr id="5" name="Callout"/>
          <p:cNvSpPr txBox="1"/>
          <p:nvPr/>
        </p:nvSpPr>
        <p:spPr>
          <a:xfrm>
            <a:off x="7900000" y="1450000"/>
            <a:ext cx="3500000" cy="1500000"/>
          </a:xfrm>
          <a:prstGeom prst="roundRect">
            <a:avLst/>
          </a:prstGeom>
          <a:solidFill>
            <a:srgbClr val="C96F2D"/>
          </a:solidFill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950" b="1">
                <a:solidFill>
                  <a:srgbClr val="FFFFFF"/>
                </a:solidFill>
              </a:rPr>
              <a:t>At 10 FPS, the problematic segment occurs around 4.1s-4.7s in episode 20.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20000" y="6350000"/>
            <a:ext cx="76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Embodied AI xArm | OpenPI pi0.5 fine-tuning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100000" y="63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20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50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3600" b="1">
                <a:solidFill>
                  <a:srgbClr val="243447"/>
                </a:solidFill>
              </a:rPr>
              <a:t>Why the Loss Exploded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350000"/>
            <a:ext cx="70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Action normalization uses q01/q99 percentile range normalization.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For dim3, q99 - q01 was only about 0.000232.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A raw delta around 0.032 becomes hundreds after normalization.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That huge target dominates the per-sample loss.</a:t>
            </a:r>
          </a:p>
        </p:txBody>
      </p:sp>
      <p:sp>
        <p:nvSpPr>
          <p:cNvPr id="5" name="Code"/>
          <p:cNvSpPr txBox="1"/>
          <p:nvPr/>
        </p:nvSpPr>
        <p:spPr>
          <a:xfrm>
            <a:off x="7900000" y="1450000"/>
            <a:ext cx="3600000" cy="1700000"/>
          </a:xfrm>
          <a:prstGeom prst="roundRect">
            <a:avLst/>
          </a:prstGeom>
          <a:solidFill>
            <a:srgbClr val="EAF0F5"/>
          </a:solidFill>
          <a:ln w="12700">
            <a:solidFill>
              <a:srgbClr val="D6DEE6"/>
            </a:solidFill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650" b="0">
                <a:solidFill>
                  <a:srgbClr val="1B2630"/>
                </a:solidFill>
              </a:rPr>
              <a:t>normalized = 2 * (x - q01) / (q99 - q01) - 1</a:t>
            </a:r>
          </a:p>
          <a:p>
            <a:pPr marL="0" indent="0" lvl="0">
              <a:buNone/>
            </a:pPr>
            <a:r>
              <a:rPr lang="en-US" sz="1650" b="0">
                <a:solidFill>
                  <a:srgbClr val="1B2630"/>
                </a:solidFill>
              </a:rPr>
              <a:t>q99 - q01 ~= 0.000232</a:t>
            </a:r>
          </a:p>
          <a:p>
            <a:pPr marL="0" indent="0" lvl="0">
              <a:buNone/>
            </a:pPr>
            <a:r>
              <a:rPr lang="en-US" sz="1650" b="0">
                <a:solidFill>
                  <a:srgbClr val="1B2630"/>
                </a:solidFill>
              </a:rPr>
              <a:t>raw delta ~= 0.032  =&gt;  normalized target ~= hundreds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20000" y="6350000"/>
            <a:ext cx="76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Embodied AI xArm | OpenPI pi0.5 fine-tuning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100000" y="63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20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50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3600" b="1">
                <a:solidFill>
                  <a:srgbClr val="243447"/>
                </a:solidFill>
              </a:rPr>
              <a:t>Mitigation Plan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350000"/>
            <a:ext cx="70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Remove or fix episode_000020.parquet if the jump is an invalid recording artifact.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Reindex LeRobot metadata after deleting parquet episodes.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Recompute norm_stats.json before restarting training.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Run a short debug training pass and confirm no sample_loss &gt;= 10 events remain.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20000" y="6350000"/>
            <a:ext cx="76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Embodied AI xArm | OpenPI pi0.5 fine-tuning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100000" y="63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20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50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3600" b="1">
                <a:solidFill>
                  <a:srgbClr val="243447"/>
                </a:solidFill>
              </a:rPr>
              <a:t>Design Questions for Collaborators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350000"/>
            <a:ext cx="70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Should the policy train on absolute joint targets or joint deltas?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Should normalization use a minimum range/std floor for nearly-static dimensions?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Should discontinuity detection become part of dataset validation before training?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How should inference convert model outputs back into robot commands?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20000" y="6350000"/>
            <a:ext cx="76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Embodied AI xArm | OpenPI pi0.5 fine-tuning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100000" y="63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320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50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3600" b="1">
                <a:solidFill>
                  <a:srgbClr val="243447"/>
                </a:solidFill>
              </a:rPr>
              <a:t>How to Contribute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60000" y="1350000"/>
            <a:ext cx="70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Data: collect more clean demonstrations and label tasks consistently.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Validation: add checks for joint discontinuities, image integrity, metadata consistency, and task balance.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Training: compare delta-action vs absolute-action configs and document inference behavior.</a:t>
            </a:r>
          </a:p>
          <a:p>
            <a:pPr marL="457200" indent="-228600" lvl="0">
              <a:buChar char="?"/>
            </a:pPr>
            <a:r>
              <a:rPr lang="en-US" sz="2100" b="0">
                <a:solidFill>
                  <a:srgbClr val="17212B"/>
                </a:solidFill>
              </a:rPr>
              <a:t>Evaluation: define repeatable task success metrics on the real robot.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20000" y="6350000"/>
            <a:ext cx="76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Key files: fine_tune/convert_xarm_raw_to_lerobot.py, fine_tune/openpi_xarm_config.py, fine_tune/openpi_train_debug.py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100000" y="63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0" indent="0" lvl="0">
              <a:buNone/>
            </a:pPr>
            <a:r>
              <a:rPr lang="en-US" sz="1200" b="0">
                <a:solidFill>
                  <a:srgbClr val="5E6A75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Arm Project">
  <a:themeElements>
    <a:clrScheme name="xArm">
      <a:dk1>
        <a:srgbClr val="17212B"/>
      </a:dk1>
      <a:lt1>
        <a:srgbClr val="FFFFFF"/>
      </a:lt1>
      <a:dk2>
        <a:srgbClr val="243447"/>
      </a:dk2>
      <a:lt2>
        <a:srgbClr val="F4F7FA"/>
      </a:lt2>
      <a:accent1>
        <a:srgbClr val="1F7A8C"/>
      </a:accent1>
      <a:accent2>
        <a:srgbClr val="2E7D32"/>
      </a:accent2>
      <a:accent3>
        <a:srgbClr val="C96F2D"/>
      </a:accent3>
      <a:accent4>
        <a:srgbClr val="B23A48"/>
      </a:accent4>
      <a:accent5>
        <a:srgbClr val="5E6A75"/>
      </a:accent5>
      <a:accent6>
        <a:srgbClr val="D6DEE6"/>
      </a:accent6>
      <a:hlink>
        <a:srgbClr val="1F7A8C"/>
      </a:hlink>
      <a:folHlink>
        <a:srgbClr val="5E6A75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xArm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